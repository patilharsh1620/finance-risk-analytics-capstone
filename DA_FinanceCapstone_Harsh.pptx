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66" r:id="rId4"/>
    <p:sldId id="257" r:id="rId5"/>
    <p:sldId id="258" r:id="rId6"/>
    <p:sldId id="260" r:id="rId7"/>
    <p:sldId id="262" r:id="rId9"/>
    <p:sldId id="268" r:id="rId10"/>
    <p:sldId id="263" r:id="rId11"/>
    <p:sldId id="264" r:id="rId12"/>
    <p:sldId id="267" r:id="rId13"/>
    <p:sldId id="259" r:id="rId14"/>
    <p:sldId id="265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6" d="100"/>
          <a:sy n="96" d="100"/>
        </p:scale>
        <p:origin x="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1621A-604B-465F-81EA-B59ED110A6E8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2D56B-FD09-4C14-80E5-8EB9D113AB0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2D56B-FD09-4C14-80E5-8EB9D113AB0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70302020209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70302020209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CDC9C-DBAE-46D8-876D-4D79D5E557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F5150-BF1D-4D4F-9568-25FFA3548B33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Capstone Project</a:t>
            </a:r>
            <a:br>
              <a:rPr lang="en-IN" dirty="0"/>
            </a:br>
            <a:r>
              <a:rPr lang="en-IN" sz="3600" dirty="0"/>
              <a:t>Finance and Risk Analytics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Harsh PatiL</a:t>
            </a:r>
            <a:r>
              <a:rPr lang="en-US" altLang="en-IN" dirty="0"/>
              <a:t> </a:t>
            </a:r>
            <a:endParaRPr lang="en-US" altLang="en-IN" dirty="0"/>
          </a:p>
          <a:p>
            <a:endParaRPr lang="en-US" alt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893"/>
    </mc:Choice>
    <mc:Fallback>
      <p:transition spd="slow" advTm="1489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2717"/>
          </a:xfrm>
        </p:spPr>
        <p:txBody>
          <a:bodyPr/>
          <a:lstStyle/>
          <a:p>
            <a:r>
              <a:rPr lang="en-IN" dirty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962"/>
            <a:ext cx="9426505" cy="4242191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Business Case</a:t>
            </a:r>
            <a:endParaRPr lang="en-IN" dirty="0"/>
          </a:p>
          <a:p>
            <a:r>
              <a:rPr lang="en-IN" dirty="0"/>
              <a:t>Data Provided</a:t>
            </a:r>
            <a:endParaRPr lang="en-IN" dirty="0"/>
          </a:p>
          <a:p>
            <a:r>
              <a:rPr lang="en-IN" dirty="0"/>
              <a:t>Conclusion (Suggested Portfolio)</a:t>
            </a:r>
            <a:endParaRPr lang="en-IN" dirty="0"/>
          </a:p>
          <a:p>
            <a:r>
              <a:rPr lang="en-IN" dirty="0"/>
              <a:t>Data Insights</a:t>
            </a:r>
            <a:endParaRPr lang="en-IN" dirty="0"/>
          </a:p>
          <a:p>
            <a:pPr lvl="1"/>
            <a:r>
              <a:rPr lang="en-IN" dirty="0"/>
              <a:t>Returns &amp; Risk</a:t>
            </a:r>
            <a:endParaRPr lang="en-IN" dirty="0"/>
          </a:p>
          <a:p>
            <a:pPr lvl="1"/>
            <a:r>
              <a:rPr lang="en-IN" dirty="0"/>
              <a:t>Sector Analysis</a:t>
            </a:r>
            <a:endParaRPr lang="en-IN" dirty="0"/>
          </a:p>
          <a:p>
            <a:pPr lvl="1"/>
            <a:r>
              <a:rPr lang="en-IN" dirty="0"/>
              <a:t>Correlation</a:t>
            </a:r>
            <a:endParaRPr lang="en-IN" dirty="0"/>
          </a:p>
          <a:p>
            <a:r>
              <a:rPr lang="en-IN" dirty="0"/>
              <a:t>Appendix </a:t>
            </a:r>
            <a:endParaRPr lang="en-IN" dirty="0"/>
          </a:p>
          <a:p>
            <a:pPr lvl="1"/>
            <a:r>
              <a:rPr lang="en-IN" dirty="0"/>
              <a:t>Steps followed</a:t>
            </a:r>
            <a:endParaRPr lang="en-IN" dirty="0"/>
          </a:p>
          <a:p>
            <a:pPr lvl="1"/>
            <a:r>
              <a:rPr lang="en-IN" dirty="0"/>
              <a:t>Summary of Metrics</a:t>
            </a:r>
            <a:endParaRPr lang="en-IN" dirty="0"/>
          </a:p>
          <a:p>
            <a:pPr lvl="1"/>
            <a:r>
              <a:rPr lang="en-GB" dirty="0"/>
              <a:t>Portfolio Returns</a:t>
            </a:r>
            <a:endParaRPr lang="en-GB" dirty="0"/>
          </a:p>
          <a:p>
            <a:pPr lvl="2"/>
            <a:endParaRPr lang="en-GB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274"/>
    </mc:Choice>
    <mc:Fallback>
      <p:transition spd="slow" advTm="3127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479" y="2484783"/>
            <a:ext cx="7229713" cy="369378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73569"/>
          </a:xfrm>
        </p:spPr>
        <p:txBody>
          <a:bodyPr/>
          <a:lstStyle/>
          <a:p>
            <a:r>
              <a:rPr lang="en-IN" dirty="0"/>
              <a:t>Business Case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962"/>
            <a:ext cx="9426505" cy="4242191"/>
          </a:xfrm>
        </p:spPr>
        <p:txBody>
          <a:bodyPr/>
          <a:lstStyle/>
          <a:p>
            <a:r>
              <a:rPr lang="en-GB" sz="2000" dirty="0"/>
              <a:t>Analyse a portfolio of stocks to provide consultation on investment management based on two clients’ requirements</a:t>
            </a:r>
            <a:endParaRPr lang="en-GB" sz="2000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486"/>
    </mc:Choice>
    <mc:Fallback>
      <p:transition spd="slow" advTm="7548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2717"/>
          </a:xfrm>
        </p:spPr>
        <p:txBody>
          <a:bodyPr/>
          <a:lstStyle/>
          <a:p>
            <a:r>
              <a:rPr lang="en-IN" dirty="0"/>
              <a:t>Data Provided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962"/>
            <a:ext cx="9426505" cy="4242191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Prices for </a:t>
            </a:r>
            <a:r>
              <a:rPr lang="en-GB" dirty="0"/>
              <a:t>24 stocks of leading companies listed on New York Stock Exchange (NYSE)</a:t>
            </a:r>
            <a:endParaRPr lang="en-GB" dirty="0"/>
          </a:p>
          <a:p>
            <a:r>
              <a:rPr lang="en-GB" dirty="0"/>
              <a:t>The information for every stock ranges from 1st October 2010 to 30th September 2020</a:t>
            </a:r>
            <a:endParaRPr lang="en-GB" dirty="0"/>
          </a:p>
          <a:p>
            <a:r>
              <a:rPr lang="en-GB" dirty="0"/>
              <a:t>Sectors covered</a:t>
            </a:r>
            <a:endParaRPr lang="en-GB" dirty="0"/>
          </a:p>
          <a:p>
            <a:pPr lvl="1"/>
            <a:r>
              <a:rPr lang="en-GB" dirty="0"/>
              <a:t>Technology/IT</a:t>
            </a:r>
            <a:endParaRPr lang="en-GB" dirty="0"/>
          </a:p>
          <a:p>
            <a:pPr lvl="1"/>
            <a:r>
              <a:rPr lang="en-GB" dirty="0"/>
              <a:t>Travel/Aviation/Hospitality</a:t>
            </a:r>
            <a:endParaRPr lang="en-GB" dirty="0"/>
          </a:p>
          <a:p>
            <a:pPr lvl="1"/>
            <a:r>
              <a:rPr lang="en-GB" dirty="0"/>
              <a:t>Banking/Financial Services and Insurance</a:t>
            </a:r>
            <a:endParaRPr lang="en-GB" dirty="0"/>
          </a:p>
          <a:p>
            <a:pPr lvl="1"/>
            <a:r>
              <a:rPr lang="en-GB" dirty="0"/>
              <a:t>Pharmaceuticals/Healthcare/Life Sciences</a:t>
            </a:r>
            <a:endParaRPr lang="en-GB" dirty="0"/>
          </a:p>
          <a:p>
            <a:r>
              <a:rPr lang="en-GB" dirty="0"/>
              <a:t>S&amp;P 500 index prices provided as benchmark for the same period</a:t>
            </a:r>
            <a:endParaRPr lang="en-GB" dirty="0"/>
          </a:p>
          <a:p>
            <a:r>
              <a:rPr lang="en-GB" dirty="0"/>
              <a:t>Steps followed have been provided as Appendix - I for reference</a:t>
            </a:r>
            <a:endParaRPr lang="en-GB" dirty="0"/>
          </a:p>
          <a:p>
            <a:r>
              <a:rPr lang="en-GB" b="1" dirty="0"/>
              <a:t>Assumption: Data for past 5 years is to be analysed and used to project next 5 years returns</a:t>
            </a:r>
            <a:endParaRPr lang="en-GB" b="1" dirty="0"/>
          </a:p>
          <a:p>
            <a:pPr lvl="2"/>
            <a:endParaRPr lang="en-GB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47"/>
    </mc:Choice>
    <mc:Fallback>
      <p:transition spd="slow" advTm="5004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66943"/>
          </a:xfrm>
        </p:spPr>
        <p:txBody>
          <a:bodyPr/>
          <a:lstStyle/>
          <a:p>
            <a:r>
              <a:rPr lang="en-IN" dirty="0"/>
              <a:t>Conclusion: Suggested Portfolio</a:t>
            </a:r>
            <a:endParaRPr lang="en-IN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490870"/>
          <a:ext cx="10515600" cy="479596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80322"/>
                <a:gridCol w="4287078"/>
                <a:gridCol w="4648200"/>
              </a:tblGrid>
              <a:tr h="403036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Mr. Patrick </a:t>
                      </a:r>
                      <a:r>
                        <a:rPr lang="en-IN" sz="1600" dirty="0" err="1"/>
                        <a:t>Jyengar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Mr. Peter </a:t>
                      </a:r>
                      <a:r>
                        <a:rPr lang="en-IN" sz="1600" dirty="0" err="1"/>
                        <a:t>Jyengar</a:t>
                      </a:r>
                      <a:endParaRPr lang="en-IN" sz="1600" dirty="0"/>
                    </a:p>
                  </a:txBody>
                  <a:tcPr/>
                </a:tc>
              </a:tr>
              <a:tr h="392094">
                <a:tc>
                  <a:txBody>
                    <a:bodyPr/>
                    <a:lstStyle/>
                    <a:p>
                      <a:r>
                        <a:rPr lang="en-IN" sz="1600" dirty="0"/>
                        <a:t>Invested amount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USD 500,000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Invested Amount: USD 1,000,000</a:t>
                      </a:r>
                      <a:endParaRPr lang="en-IN" sz="1600" dirty="0"/>
                    </a:p>
                  </a:txBody>
                  <a:tcPr/>
                </a:tc>
              </a:tr>
              <a:tr h="392094">
                <a:tc>
                  <a:txBody>
                    <a:bodyPr/>
                    <a:lstStyle/>
                    <a:p>
                      <a:r>
                        <a:rPr lang="en-IN" sz="1600" dirty="0"/>
                        <a:t>Expected Return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Double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</a:t>
                      </a:r>
                      <a:endParaRPr lang="en-IN" sz="1600" dirty="0"/>
                    </a:p>
                  </a:txBody>
                  <a:tcPr/>
                </a:tc>
              </a:tr>
              <a:tr h="392094">
                <a:tc>
                  <a:txBody>
                    <a:bodyPr/>
                    <a:lstStyle/>
                    <a:p>
                      <a:r>
                        <a:rPr lang="en-IN" sz="1600" dirty="0"/>
                        <a:t>Expected Risk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Low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 conditions</a:t>
                      </a:r>
                      <a:endParaRPr lang="en-IN" sz="1600" dirty="0"/>
                    </a:p>
                  </a:txBody>
                  <a:tcPr/>
                </a:tc>
              </a:tr>
              <a:tr h="1415673">
                <a:tc>
                  <a:txBody>
                    <a:bodyPr/>
                    <a:lstStyle/>
                    <a:p>
                      <a:r>
                        <a:rPr lang="en-IN" sz="1600" dirty="0"/>
                        <a:t>Suggested stocks &amp; allocation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JNJ (Johnson &amp; Johnson) – 25%</a:t>
                      </a:r>
                      <a:endParaRPr lang="en-IN" sz="1600" dirty="0"/>
                    </a:p>
                    <a:p>
                      <a:r>
                        <a:rPr lang="en-IN" sz="1600" dirty="0"/>
                        <a:t>RHHBY (Roche Holding AG) – 25%</a:t>
                      </a:r>
                      <a:endParaRPr lang="en-IN" sz="1600" dirty="0"/>
                    </a:p>
                    <a:p>
                      <a:r>
                        <a:rPr lang="en-IN" sz="1600" dirty="0"/>
                        <a:t>MRK (Merck and Co Inc) – 25%</a:t>
                      </a:r>
                      <a:endParaRPr lang="en-IN" sz="1600" dirty="0"/>
                    </a:p>
                    <a:p>
                      <a:r>
                        <a:rPr lang="en-IN" sz="1600" dirty="0"/>
                        <a:t>MSFT (Microsoft) – 25%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AMZN (Amazon) – 20%</a:t>
                      </a:r>
                      <a:endParaRPr lang="en-IN" sz="1600" dirty="0"/>
                    </a:p>
                    <a:p>
                      <a:r>
                        <a:rPr lang="en-IN" sz="1600" dirty="0"/>
                        <a:t>MSFT (Microsoft) – 20%</a:t>
                      </a:r>
                      <a:endParaRPr lang="en-IN" sz="1600" dirty="0"/>
                    </a:p>
                    <a:p>
                      <a:r>
                        <a:rPr lang="en-IN" sz="1600" dirty="0"/>
                        <a:t>AAPL (Apple) – 20%</a:t>
                      </a:r>
                      <a:endParaRPr lang="en-IN" sz="1600" dirty="0"/>
                    </a:p>
                    <a:p>
                      <a:r>
                        <a:rPr lang="en-IN" sz="1600" dirty="0"/>
                        <a:t>FB (Facebook) – 20%</a:t>
                      </a:r>
                      <a:endParaRPr lang="en-IN" sz="1600" dirty="0"/>
                    </a:p>
                    <a:p>
                      <a:r>
                        <a:rPr lang="en-IN" sz="1600" dirty="0"/>
                        <a:t>UNH (United Health Group Inc) – 20%</a:t>
                      </a:r>
                      <a:endParaRPr lang="en-IN" sz="1600" dirty="0"/>
                    </a:p>
                  </a:txBody>
                  <a:tcPr/>
                </a:tc>
              </a:tr>
              <a:tr h="642730">
                <a:tc>
                  <a:txBody>
                    <a:bodyPr/>
                    <a:lstStyle/>
                    <a:p>
                      <a:r>
                        <a:rPr lang="en-IN" sz="1600" dirty="0"/>
                        <a:t>Expected return (after 5 yrs) *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132%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310%</a:t>
                      </a:r>
                      <a:endParaRPr lang="en-IN" sz="1600" dirty="0"/>
                    </a:p>
                  </a:txBody>
                  <a:tcPr/>
                </a:tc>
              </a:tr>
              <a:tr h="403036">
                <a:tc>
                  <a:txBody>
                    <a:bodyPr/>
                    <a:lstStyle/>
                    <a:p>
                      <a:r>
                        <a:rPr lang="en-IN" sz="1600" dirty="0"/>
                        <a:t>Portfolio Risk (Annualized)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22.85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29.65</a:t>
                      </a:r>
                      <a:endParaRPr lang="en-IN" sz="1600" dirty="0"/>
                    </a:p>
                  </a:txBody>
                  <a:tcPr/>
                </a:tc>
              </a:tr>
              <a:tr h="403036">
                <a:tc>
                  <a:txBody>
                    <a:bodyPr/>
                    <a:lstStyle/>
                    <a:p>
                      <a:r>
                        <a:rPr lang="en-IN" sz="1600" dirty="0"/>
                        <a:t>Portfolio Value (after 5 yrs) *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USD 1,116,000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USD 4,100,000</a:t>
                      </a:r>
                      <a:endParaRPr lang="en-IN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38200" y="6492240"/>
            <a:ext cx="4590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* Past 5 years returns are used to project next 5 years returns</a:t>
            </a:r>
            <a:endParaRPr lang="en-IN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675"/>
    </mc:Choice>
    <mc:Fallback>
      <p:transition spd="slow" advTm="8967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2717"/>
          </a:xfrm>
        </p:spPr>
        <p:txBody>
          <a:bodyPr/>
          <a:lstStyle/>
          <a:p>
            <a:r>
              <a:rPr lang="en-IN" dirty="0"/>
              <a:t>DATA Insights - RETURNS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962"/>
            <a:ext cx="4999383" cy="4242191"/>
          </a:xfrm>
        </p:spPr>
        <p:txBody>
          <a:bodyPr>
            <a:normAutofit/>
          </a:bodyPr>
          <a:lstStyle/>
          <a:p>
            <a:r>
              <a:rPr lang="en-IN" dirty="0"/>
              <a:t>12 stocks (+ S&amp;P500) provided positive cumulative returns over this 5 year period</a:t>
            </a:r>
            <a:endParaRPr lang="en-IN" dirty="0"/>
          </a:p>
          <a:p>
            <a:r>
              <a:rPr lang="en-IN" dirty="0"/>
              <a:t>Recommended stocks have been selected from the above 12 stocks</a:t>
            </a:r>
            <a:endParaRPr lang="en-IN" dirty="0"/>
          </a:p>
          <a:p>
            <a:r>
              <a:rPr lang="en-IN" dirty="0"/>
              <a:t>AMZN, AAPL and MSFT are the top 3 performers in terms of both Annualized and Cumulative Returns</a:t>
            </a:r>
            <a:endParaRPr lang="en-GB" dirty="0"/>
          </a:p>
          <a:p>
            <a:pPr lvl="2"/>
            <a:endParaRPr lang="en-GB" dirty="0"/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b="33265"/>
          <a:stretch>
            <a:fillRect/>
          </a:stretch>
        </p:blipFill>
        <p:spPr>
          <a:xfrm>
            <a:off x="6577198" y="145775"/>
            <a:ext cx="5001081" cy="43069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r="14757" b="9759"/>
          <a:stretch>
            <a:fillRect/>
          </a:stretch>
        </p:blipFill>
        <p:spPr>
          <a:xfrm>
            <a:off x="6577197" y="4518992"/>
            <a:ext cx="4999383" cy="22926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52" y="4518991"/>
            <a:ext cx="666784" cy="2292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290"/>
    </mc:Choice>
    <mc:Fallback>
      <p:transition spd="slow" advTm="3329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134814"/>
            <a:ext cx="9905998" cy="812717"/>
          </a:xfrm>
        </p:spPr>
        <p:txBody>
          <a:bodyPr/>
          <a:lstStyle/>
          <a:p>
            <a:r>
              <a:rPr lang="en-IN" dirty="0"/>
              <a:t>DATA Insights - RISK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0965" y="1154811"/>
            <a:ext cx="4999383" cy="4242191"/>
          </a:xfrm>
        </p:spPr>
        <p:txBody>
          <a:bodyPr>
            <a:normAutofit/>
          </a:bodyPr>
          <a:lstStyle/>
          <a:p>
            <a:r>
              <a:rPr lang="en-IN" sz="2000" dirty="0"/>
              <a:t>The following stocks are the least risky:</a:t>
            </a:r>
            <a:endParaRPr lang="en-IN" sz="2000" dirty="0"/>
          </a:p>
          <a:p>
            <a:pPr lvl="1"/>
            <a:r>
              <a:rPr lang="en-GB" sz="1800" dirty="0"/>
              <a:t>JNJ</a:t>
            </a:r>
            <a:endParaRPr lang="en-GB" sz="1800" dirty="0"/>
          </a:p>
          <a:p>
            <a:pPr lvl="1"/>
            <a:r>
              <a:rPr lang="en-GB" sz="1800" dirty="0"/>
              <a:t>RHHBY</a:t>
            </a:r>
            <a:endParaRPr lang="en-GB" sz="1800" dirty="0"/>
          </a:p>
          <a:p>
            <a:pPr lvl="1"/>
            <a:r>
              <a:rPr lang="en-GB" sz="1800" dirty="0"/>
              <a:t>PFE</a:t>
            </a:r>
            <a:endParaRPr lang="en-GB" sz="1800" dirty="0"/>
          </a:p>
          <a:p>
            <a:pPr lvl="1"/>
            <a:r>
              <a:rPr lang="en-GB" sz="1800" dirty="0"/>
              <a:t>MRK</a:t>
            </a:r>
            <a:endParaRPr lang="en-GB" sz="1800" dirty="0"/>
          </a:p>
          <a:p>
            <a:pPr lvl="1"/>
            <a:r>
              <a:rPr lang="en-GB" sz="1800" dirty="0"/>
              <a:t>GOOG</a:t>
            </a:r>
            <a:endParaRPr lang="en-GB" sz="1800" dirty="0"/>
          </a:p>
          <a:p>
            <a:pPr lvl="2"/>
            <a:endParaRPr lang="en-GB" dirty="0"/>
          </a:p>
          <a:p>
            <a:endParaRPr lang="en-IN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845" y="4043500"/>
            <a:ext cx="5212807" cy="242456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615" y="1154811"/>
            <a:ext cx="6382403" cy="53009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188"/>
    </mc:Choice>
    <mc:Fallback>
      <p:transition spd="slow" advTm="4618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22" y="466118"/>
            <a:ext cx="9905998" cy="812717"/>
          </a:xfrm>
        </p:spPr>
        <p:txBody>
          <a:bodyPr>
            <a:noAutofit/>
          </a:bodyPr>
          <a:lstStyle/>
          <a:p>
            <a:r>
              <a:rPr lang="en-IN" dirty="0"/>
              <a:t>DATA INSIGHTS</a:t>
            </a:r>
            <a:br>
              <a:rPr lang="en-IN" dirty="0"/>
            </a:br>
            <a:r>
              <a:rPr lang="en-IN" sz="2400" dirty="0"/>
              <a:t>SECTOR ANALYSIS - I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73325" y="4283695"/>
            <a:ext cx="4875075" cy="23688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b="1" dirty="0"/>
              <a:t>Finance</a:t>
            </a:r>
            <a:endParaRPr lang="en-IN" sz="1600" b="1" dirty="0"/>
          </a:p>
          <a:p>
            <a:r>
              <a:rPr lang="en-IN" sz="1600" dirty="0"/>
              <a:t>Finance does not have a clear correlation to S&amp;P 500 (though it is positive for some stocks)</a:t>
            </a:r>
            <a:endParaRPr lang="en-IN" sz="1600" dirty="0"/>
          </a:p>
          <a:p>
            <a:r>
              <a:rPr lang="en-IN" sz="1600" dirty="0"/>
              <a:t>Most stocks dipped in early 2020 but have been able to recover since then</a:t>
            </a:r>
            <a:endParaRPr lang="en-IN" sz="1600" dirty="0"/>
          </a:p>
          <a:p>
            <a:r>
              <a:rPr lang="en-IN" sz="1600" dirty="0"/>
              <a:t>Goldman Sachs and Morgan Stanley are highly correlated within the sector</a:t>
            </a:r>
            <a:endParaRPr lang="en-IN" sz="1600" dirty="0"/>
          </a:p>
        </p:txBody>
      </p:sp>
      <p:sp>
        <p:nvSpPr>
          <p:cNvPr id="7" name="Content Placeholder 4"/>
          <p:cNvSpPr txBox="1"/>
          <p:nvPr/>
        </p:nvSpPr>
        <p:spPr>
          <a:xfrm>
            <a:off x="1373325" y="1914800"/>
            <a:ext cx="4875075" cy="2368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90204" pitchFamily="34" charset="0"/>
              <a:buNone/>
            </a:pPr>
            <a:r>
              <a:rPr lang="en-IN" b="1" dirty="0"/>
              <a:t>Aviation</a:t>
            </a:r>
            <a:endParaRPr lang="en-IN" b="1" dirty="0"/>
          </a:p>
          <a:p>
            <a:r>
              <a:rPr lang="en-IN" dirty="0"/>
              <a:t>Aviation has a negative correlation to S&amp;P 500</a:t>
            </a:r>
            <a:endParaRPr lang="en-IN" dirty="0"/>
          </a:p>
          <a:p>
            <a:r>
              <a:rPr lang="en-IN" dirty="0"/>
              <a:t>Returns have likely dipped because of Coronavirus pandemic since early 2020</a:t>
            </a:r>
            <a:endParaRPr lang="en-IN" dirty="0"/>
          </a:p>
          <a:p>
            <a:r>
              <a:rPr lang="en-IN" dirty="0"/>
              <a:t>There is some positive correlation between Delta and Allegiant and Delta and Southwest Airlines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0279" y="466118"/>
            <a:ext cx="5753396" cy="13958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 t="2304"/>
          <a:stretch>
            <a:fillRect/>
          </a:stretch>
        </p:blipFill>
        <p:spPr>
          <a:xfrm>
            <a:off x="6270279" y="1914800"/>
            <a:ext cx="5753396" cy="242023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980" y="4405041"/>
            <a:ext cx="5740695" cy="231151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0135" y="2020956"/>
            <a:ext cx="730288" cy="971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169" y="4405041"/>
            <a:ext cx="863644" cy="977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713"/>
    </mc:Choice>
    <mc:Fallback>
      <p:transition spd="slow" advTm="5171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73325" y="4283695"/>
            <a:ext cx="4875075" cy="23688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Technology</a:t>
            </a:r>
            <a:endParaRPr lang="en-IN" sz="1600" b="1" dirty="0"/>
          </a:p>
          <a:p>
            <a:r>
              <a:rPr lang="en-IN" sz="1600" dirty="0"/>
              <a:t>Technology has a positive correlation to S&amp;P 500</a:t>
            </a:r>
            <a:endParaRPr lang="en-IN" sz="1600" dirty="0"/>
          </a:p>
          <a:p>
            <a:r>
              <a:rPr lang="en-IN" sz="1600" dirty="0"/>
              <a:t>Most stocks have outperformed the S&amp;P 500 index</a:t>
            </a:r>
            <a:endParaRPr lang="en-IN" sz="1600" dirty="0"/>
          </a:p>
          <a:p>
            <a:r>
              <a:rPr lang="en-IN" sz="1600" dirty="0"/>
              <a:t>In terms of returns, technology is the strongest sector, hence suggested for investors looking for high returns</a:t>
            </a:r>
            <a:endParaRPr lang="en-IN" sz="1600" dirty="0"/>
          </a:p>
        </p:txBody>
      </p:sp>
      <p:sp>
        <p:nvSpPr>
          <p:cNvPr id="7" name="Content Placeholder 4"/>
          <p:cNvSpPr txBox="1"/>
          <p:nvPr/>
        </p:nvSpPr>
        <p:spPr>
          <a:xfrm>
            <a:off x="1373325" y="1914800"/>
            <a:ext cx="4875075" cy="2368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90204" pitchFamily="34" charset="0"/>
              <a:buNone/>
            </a:pPr>
            <a:r>
              <a:rPr lang="en-IN" b="1" dirty="0"/>
              <a:t>Pharma / HealthCare</a:t>
            </a:r>
            <a:endParaRPr lang="en-IN" b="1" dirty="0"/>
          </a:p>
          <a:p>
            <a:r>
              <a:rPr lang="en-IN" dirty="0"/>
              <a:t>Pharma/Healthcare has a positive correlation to S&amp;P 500</a:t>
            </a:r>
            <a:endParaRPr lang="en-IN" dirty="0"/>
          </a:p>
          <a:p>
            <a:r>
              <a:rPr lang="en-IN" dirty="0"/>
              <a:t>Pharma showed positive growth in 2020 during the Coronavirus pandemic</a:t>
            </a:r>
            <a:endParaRPr lang="en-IN" dirty="0"/>
          </a:p>
          <a:p>
            <a:r>
              <a:rPr lang="en-IN" dirty="0"/>
              <a:t>In general, Pharma stocks have the lowest risk, hence suggested for low risk investors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rcRect l="-1" r="883"/>
          <a:stretch>
            <a:fillRect/>
          </a:stretch>
        </p:blipFill>
        <p:spPr>
          <a:xfrm>
            <a:off x="6248399" y="466118"/>
            <a:ext cx="5702593" cy="13958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b="6558"/>
          <a:stretch>
            <a:fillRect/>
          </a:stretch>
        </p:blipFill>
        <p:spPr>
          <a:xfrm>
            <a:off x="6248400" y="1914801"/>
            <a:ext cx="5702593" cy="24217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r="1478"/>
          <a:stretch>
            <a:fillRect/>
          </a:stretch>
        </p:blipFill>
        <p:spPr>
          <a:xfrm>
            <a:off x="6257578" y="4409592"/>
            <a:ext cx="5693415" cy="23688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525" y="2270790"/>
            <a:ext cx="685835" cy="9779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525" y="4847511"/>
            <a:ext cx="749339" cy="939848"/>
          </a:xfrm>
          <a:prstGeom prst="rect">
            <a:avLst/>
          </a:prstGeom>
        </p:spPr>
      </p:pic>
      <p:sp>
        <p:nvSpPr>
          <p:cNvPr id="20" name="Title 1"/>
          <p:cNvSpPr txBox="1"/>
          <p:nvPr/>
        </p:nvSpPr>
        <p:spPr>
          <a:xfrm>
            <a:off x="1194422" y="466118"/>
            <a:ext cx="9905998" cy="812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DATA INSIGHTS</a:t>
            </a:r>
            <a:br>
              <a:rPr lang="en-IN" dirty="0"/>
            </a:br>
            <a:r>
              <a:rPr lang="en-IN" sz="2400" dirty="0"/>
              <a:t>SECTOR ANALYSIS - II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963"/>
    </mc:Choice>
    <mc:Fallback>
      <p:transition spd="slow" advTm="4896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 txBox="1"/>
          <p:nvPr/>
        </p:nvSpPr>
        <p:spPr>
          <a:xfrm>
            <a:off x="1194422" y="466119"/>
            <a:ext cx="9905998" cy="6006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DATA INSIGHTS - Correlation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761" y="1277258"/>
            <a:ext cx="8900549" cy="5388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19"/>
    </mc:Choice>
    <mc:Fallback>
      <p:transition spd="slow" advTm="2841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79586"/>
          </a:xfrm>
        </p:spPr>
        <p:txBody>
          <a:bodyPr/>
          <a:lstStyle/>
          <a:p>
            <a:r>
              <a:rPr lang="en-IN" dirty="0"/>
              <a:t>Appendix 1: Steps Followed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962"/>
            <a:ext cx="9426505" cy="4242191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Reduced data to past 5 years</a:t>
            </a:r>
            <a:endParaRPr lang="en-IN" dirty="0"/>
          </a:p>
          <a:p>
            <a:r>
              <a:rPr lang="en-IN" dirty="0"/>
              <a:t>Merged individual datasets in one single dataset</a:t>
            </a:r>
            <a:endParaRPr lang="en-IN" dirty="0"/>
          </a:p>
          <a:p>
            <a:r>
              <a:rPr lang="en-IN" dirty="0"/>
              <a:t>Examined dataset for missing values and outliers</a:t>
            </a:r>
            <a:endParaRPr lang="en-IN" dirty="0"/>
          </a:p>
          <a:p>
            <a:r>
              <a:rPr lang="en-IN" dirty="0"/>
              <a:t>Performed required calculations: Daily returns, Dispersion from mean, Max/min prices, Risk/Volatility, Sharpe Ration, Correlation</a:t>
            </a:r>
            <a:endParaRPr lang="en-IN" dirty="0"/>
          </a:p>
          <a:p>
            <a:r>
              <a:rPr lang="en-IN" dirty="0"/>
              <a:t>Compared stocks against each other and within industry vs S&amp;P 500</a:t>
            </a:r>
            <a:endParaRPr lang="en-IN" dirty="0"/>
          </a:p>
          <a:p>
            <a:r>
              <a:rPr lang="en-IN" dirty="0"/>
              <a:t>Identified the best stocks suited for the portfolios based on the requirements provided</a:t>
            </a:r>
            <a:endParaRPr lang="en-IN" dirty="0"/>
          </a:p>
          <a:p>
            <a:r>
              <a:rPr lang="en-IN" dirty="0"/>
              <a:t>Tools used: Jupyter Notebook, Tableau</a:t>
            </a:r>
            <a:endParaRPr lang="en-IN" dirty="0"/>
          </a:p>
          <a:p>
            <a:endParaRPr lang="en-GB" dirty="0"/>
          </a:p>
          <a:p>
            <a:pPr lvl="2"/>
            <a:endParaRPr lang="en-GB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23"/>
    </mc:Choice>
    <mc:Fallback>
      <p:transition spd="slow" advTm="652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804" y="198784"/>
            <a:ext cx="9905998" cy="779586"/>
          </a:xfrm>
        </p:spPr>
        <p:txBody>
          <a:bodyPr/>
          <a:lstStyle/>
          <a:p>
            <a:r>
              <a:rPr lang="en-IN" dirty="0"/>
              <a:t>Appendix 2: Summary of METRICS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t="772" b="1"/>
          <a:stretch>
            <a:fillRect/>
          </a:stretch>
        </p:blipFill>
        <p:spPr>
          <a:xfrm>
            <a:off x="2418522" y="962276"/>
            <a:ext cx="6449217" cy="5696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60"/>
    </mc:Choice>
    <mc:Fallback>
      <p:transition spd="slow" advTm="806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804" y="198784"/>
            <a:ext cx="9905998" cy="779586"/>
          </a:xfrm>
        </p:spPr>
        <p:txBody>
          <a:bodyPr/>
          <a:lstStyle/>
          <a:p>
            <a:r>
              <a:rPr lang="en-IN" dirty="0"/>
              <a:t>Appendix 3: PORTFOLIO RETURNS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543" y="931052"/>
            <a:ext cx="8980519" cy="57281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60"/>
    </mc:Choice>
    <mc:Fallback>
      <p:transition spd="slow" advTm="8060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3384</Words>
  <Application>WPS Docs</Application>
  <PresentationFormat>Widescreen</PresentationFormat>
  <Paragraphs>160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Trebuchet MS</vt:lpstr>
      <vt:lpstr>Tw Cen MT</vt:lpstr>
      <vt:lpstr>苹方-简</vt:lpstr>
      <vt:lpstr>Microsoft YaHei</vt:lpstr>
      <vt:lpstr>汉仪旗黑</vt:lpstr>
      <vt:lpstr>Arial Unicode MS</vt:lpstr>
      <vt:lpstr>Calibri</vt:lpstr>
      <vt:lpstr>Helvetica Neue</vt:lpstr>
      <vt:lpstr>Circuit</vt:lpstr>
      <vt:lpstr>Capstone Project Finance and Risk Analytics</vt:lpstr>
      <vt:lpstr>AGENDA</vt:lpstr>
      <vt:lpstr>Business Case</vt:lpstr>
      <vt:lpstr>Data Provided</vt:lpstr>
      <vt:lpstr>Conclusion: Suggested Portfolio</vt:lpstr>
      <vt:lpstr>DATA Insights - RETURNS</vt:lpstr>
      <vt:lpstr>DATA Insights - RISK</vt:lpstr>
      <vt:lpstr>DATA INSIGHTS SECTOR ANALYSIS - I</vt:lpstr>
      <vt:lpstr>PowerPoint 演示文稿</vt:lpstr>
      <vt:lpstr>PowerPoint 演示文稿</vt:lpstr>
      <vt:lpstr>Appendix 1: Steps Followed</vt:lpstr>
      <vt:lpstr>Appendix 2: Summary of METRICS</vt:lpstr>
      <vt:lpstr>Appendix 3: PORTFOLIO RETURNS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Siddhartha Srivastava</dc:creator>
  <cp:lastModifiedBy>Harsh Patil</cp:lastModifiedBy>
  <cp:revision>5</cp:revision>
  <dcterms:created xsi:type="dcterms:W3CDTF">2026-07-14T11:18:07Z</dcterms:created>
  <dcterms:modified xsi:type="dcterms:W3CDTF">2026-07-14T11:18:07Z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746D3BB9C90217B0EF1A566AFFD2A5AB_42</vt:lpwstr>
  </property>
  <property fmtid="{D5CDD505-2E9C-101B-9397-08002B2CF9AE}" pid="3" name="KSOProductBuildVer">
    <vt:lpwstr>1033-12.1.25897.25897</vt:lpwstr>
  </property>
</Properties>
</file>